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안녕하십니까. Draft 의 ○○○ 입니다. 저희는 한국 대학과 창업기관의 운영 매니저 한 분께만 가치를 전달하는 도구를 만들고 있습니다. 다음 5분 동안 이 회사가 풀고 있는 문제와, 왜 지금 이 시점에 풀려야 하는지 말씀드리겠습니다.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저희가 인터뷰한 한 창업동아리 회장님은 매주 일요일 밤에 5시간을 씁니다. Drive 폴더 40개를 열어보고, 8개 팀이 무엇을 냈고 무엇을 빠뜨렸는지 시트에 옮겨 적습니다. 이게 매니저 한 명의 게으름 때문은 아닙니다. 학교가 매년 보고서를 요구하기 때문입니다.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문제가 큰 이유는 돈이 모이고 있기 때문입니다. 2026년 서울 캠퍼스타운만 13개 대학에 312억이 들어갑니다. 서울 RISE 는 35개 대학에 5년간 4,225억입니다. LINC 3.0 은 연 3,025억입니다. 이 세 사업의 공통 조건이 정성적·정량적 활동 증빙입니다.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Draft 는 한 문장으로 이렇게 설명됩니다. Drive 폴더만 연결하면, 마감과 요구사항과 결정사항이 자동으로 정리됩니다. 슬라이드를 잠깐 그대로 두고 청중이 읽게 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화면을 보여드리겠습니다. 매니저가 본인의 Google Drive 폴더를 연결합니다. [전체 처리] 한 번 누르면, 안의 파일 12개를 저희가 차례로 다운로드해서 텍스트를 뽑아내고, 그 안에서 마감일, 요구사항, 외부 기관 이름, 결정사항을 항목 단위로 분리합니다. 매니저는 챗봇에게 한국어로 물으면 답이 빠르고 출처가 분명합니다.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Notion 이나 Google Sheets 도 있습니다. 결정적 차이는 누가 입력하느냐입니다. 기존 도구는 학생이 형식에 맞춰 입력해야 작동합니다. 학생들은 안 합니다. Draft 는 학생에게 새 작업을 0건 추가합니다.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지금 상황입니다. 6월 26일 FLIP 1기 8개 팀이 5주차 데모데이를 합니다. 이 운영을 저희 제품으로 진행합니다. 자체 검증에서 24개 항목 추출 정확도 100% 를 확인했습니다.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누가 돈을 내는지 분명합니다. 1단계: 대학 창업지원단 직계약, 사업단 단위 SaaS, 1교당 연 600~1,200만 원. RISE 와 캠퍼스타운 예산의 콘텐츠·디지털 항목으로 합법적 집행. 2단계: 같은 학교 안에서 학과와 입주공간으로 확장.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저는 FLIP 1기 운영자였습니다. 본인이 매주 일요일에 시트를 베끼던 사람입니다. 제 페인을 제가 풀고 있고, 첫 고객 8팀이 지금 저희 제품 안에서 일하고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마지막입니다. 저희는 향후 12개월을 위해 Pre-seed 3~5억을 모집하고 있습니다. 정규직 엔지니어 1명과 영업 1명을 채용하고, 대학 5개 학교까지 PoC 를 확장합니다. KPI 는 유료 3교 계약, MAU 500 입니다. 들어주셔서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23774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C6A64"/>
                </a:solidFill>
                <a:latin typeface="Pretendard"/>
              </a:rPr>
              <a:t>5분 발표 · FLIP 1기 데모데이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274320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0" b="0">
                <a:solidFill>
                  <a:srgbClr val="141413"/>
                </a:solidFill>
                <a:latin typeface="함초롬바탕"/>
              </a:rPr>
              <a:t>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42976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0">
                <a:solidFill>
                  <a:srgbClr val="6C6A64"/>
                </a:solidFill>
                <a:latin typeface="Pretendard"/>
              </a:rPr>
              <a:t>한국 창업기관 매니저의 운영 비서.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63550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8E8B82"/>
                </a:solidFill>
                <a:latin typeface="Pretendard"/>
              </a:rPr>
              <a:t>2026 · 발표자 ○○○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1000" b="0">
                <a:solidFill>
                  <a:srgbClr val="8E8B82"/>
                </a:solidFill>
                <a:latin typeface="Pretendard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65836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C6A64"/>
                </a:solidFill>
                <a:latin typeface="Pretendard"/>
              </a:rPr>
              <a:t>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18872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0">
                <a:solidFill>
                  <a:srgbClr val="141413"/>
                </a:solidFill>
                <a:latin typeface="함초롬바탕"/>
              </a:rPr>
              <a:t>매니저 한 명이 매주 일요일 밤 5시간을</a:t>
            </a:r>
          </a:p>
          <a:p>
            <a:pPr algn="l">
              <a:lnSpc>
                <a:spcPct val="120000"/>
              </a:lnSpc>
            </a:pPr>
            <a:r>
              <a:rPr sz="4400" b="0">
                <a:solidFill>
                  <a:srgbClr val="141413"/>
                </a:solidFill>
                <a:latin typeface="함초롬바탕"/>
              </a:rPr>
              <a:t>시트에 베끼는 작업으로 보냅니다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338328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2000" b="0">
                <a:solidFill>
                  <a:srgbClr val="3D3D3A"/>
                </a:solidFill>
                <a:latin typeface="Pretendard"/>
              </a:rPr>
              <a:t>FLIP 1기 회장 인터뷰 기준. 8개 팀, 5주차, Drive 폴더 40개, 카톡·이메일 3 채널. 이게 게으름이 아니라 학교 보고 양식이 그렇게 요구하기 때문입니다.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4937760"/>
            <a:ext cx="3657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0">
                <a:solidFill>
                  <a:srgbClr val="141413"/>
                </a:solidFill>
                <a:latin typeface="함초롬바탕"/>
              </a:rPr>
              <a:t>5h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59436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6C6A64"/>
                </a:solidFill>
                <a:latin typeface="Pretendard"/>
              </a:rPr>
              <a:t>주당 운영 시간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7992" y="4937760"/>
            <a:ext cx="3657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0">
                <a:solidFill>
                  <a:srgbClr val="141413"/>
                </a:solidFill>
                <a:latin typeface="함초롬바탕"/>
              </a:rPr>
              <a:t>40+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7992" y="59436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6C6A64"/>
                </a:solidFill>
                <a:latin typeface="Pretendard"/>
              </a:rPr>
              <a:t>Drive 폴더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7031" y="4937760"/>
            <a:ext cx="3657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0">
                <a:solidFill>
                  <a:srgbClr val="141413"/>
                </a:solidFill>
                <a:latin typeface="함초롬바탕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57031" y="59436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6C6A64"/>
                </a:solidFill>
                <a:latin typeface="Pretendard"/>
              </a:rPr>
              <a:t>소통 채널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1000" b="0">
                <a:solidFill>
                  <a:srgbClr val="8E8B82"/>
                </a:solidFill>
                <a:latin typeface="Pretendard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65836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C6A64"/>
                </a:solidFill>
                <a:latin typeface="Pretendard"/>
              </a:rPr>
              <a:t>시장이 지금 신경 쓰는 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18872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0">
                <a:solidFill>
                  <a:srgbClr val="141413"/>
                </a:solidFill>
                <a:latin typeface="함초롬바탕"/>
              </a:rPr>
              <a:t>학교가 매년 수천억을 쓰고,</a:t>
            </a:r>
          </a:p>
          <a:p>
            <a:pPr algn="l">
              <a:lnSpc>
                <a:spcPct val="120000"/>
              </a:lnSpc>
            </a:pPr>
            <a:r>
              <a:rPr sz="4000" b="0">
                <a:solidFill>
                  <a:srgbClr val="141413"/>
                </a:solidFill>
                <a:latin typeface="함초롬바탕"/>
              </a:rPr>
              <a:t>그 돈마다 활동 증빙이 따라붙습니다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3291840"/>
            <a:ext cx="28575" cy="1188720"/>
          </a:xfrm>
          <a:prstGeom prst="rect">
            <a:avLst/>
          </a:pr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333756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6C6A64"/>
                </a:solidFill>
                <a:latin typeface="Pretendard"/>
              </a:rPr>
              <a:t>서울 캠퍼스타운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3749039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>
                <a:solidFill>
                  <a:srgbClr val="141413"/>
                </a:solidFill>
                <a:latin typeface="함초롬바탕"/>
              </a:rPr>
              <a:t>312억 / 13개 대학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5352" y="3291840"/>
            <a:ext cx="28575" cy="1188720"/>
          </a:xfrm>
          <a:prstGeom prst="rect">
            <a:avLst/>
          </a:pr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333756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6C6A64"/>
                </a:solidFill>
                <a:latin typeface="Pretendard"/>
              </a:rPr>
              <a:t>서울 RISE 2025~2029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3749039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>
                <a:solidFill>
                  <a:srgbClr val="141413"/>
                </a:solidFill>
                <a:latin typeface="함초롬바탕"/>
              </a:rPr>
              <a:t>4,225억 / 35개 대학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" y="4754880"/>
            <a:ext cx="28575" cy="1188720"/>
          </a:xfrm>
          <a:prstGeom prst="rect">
            <a:avLst/>
          </a:pr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8006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6C6A64"/>
                </a:solidFill>
                <a:latin typeface="Pretendard"/>
              </a:rPr>
              <a:t>LINC 3.0 연 사업비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5212080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>
                <a:solidFill>
                  <a:srgbClr val="141413"/>
                </a:solidFill>
                <a:latin typeface="함초롬바탕"/>
              </a:rPr>
              <a:t>3,025억 / 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5352" y="4754880"/>
            <a:ext cx="28575" cy="1188720"/>
          </a:xfrm>
          <a:prstGeom prst="rect">
            <a:avLst/>
          </a:pr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48006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6C6A64"/>
                </a:solidFill>
                <a:latin typeface="Pretendard"/>
              </a:rPr>
              <a:t>공통 요구사항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5212080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>
                <a:solidFill>
                  <a:srgbClr val="141413"/>
                </a:solidFill>
                <a:latin typeface="함초롬바탕"/>
              </a:rPr>
              <a:t>정성·정량 활동 증빙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63093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8E8B82"/>
                </a:solidFill>
                <a:latin typeface="Pretendard"/>
              </a:rPr>
              <a:t>출처: 서울시 대학협력과 공시, 교육부 RISE 시행계획.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1000" b="0">
                <a:solidFill>
                  <a:srgbClr val="8E8B82"/>
                </a:solidFill>
                <a:latin typeface="Pretendard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18288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C6A64"/>
                </a:solidFill>
                <a:latin typeface="Pretendard"/>
              </a:rPr>
              <a:t>해결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237744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4200" b="0">
                <a:solidFill>
                  <a:srgbClr val="141413"/>
                </a:solidFill>
                <a:latin typeface="함초롬바탕"/>
              </a:rPr>
              <a:t>Drive 폴더만 연결하면,</a:t>
            </a:r>
          </a:p>
          <a:p>
            <a:pPr algn="l">
              <a:lnSpc>
                <a:spcPct val="135000"/>
              </a:lnSpc>
            </a:pPr>
            <a:r>
              <a:rPr sz="4200" b="0">
                <a:solidFill>
                  <a:srgbClr val="141413"/>
                </a:solidFill>
                <a:latin typeface="함초롬바탕"/>
              </a:rPr>
              <a:t>마감과 요구사항과 결정사항이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38404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4200" b="0">
                <a:solidFill>
                  <a:srgbClr val="6C6A64"/>
                </a:solidFill>
                <a:latin typeface="함초롬바탕"/>
              </a:rPr>
              <a:t>자동으로 정리됩니다.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1000" b="0">
                <a:solidFill>
                  <a:srgbClr val="8E8B82"/>
                </a:solidFill>
                <a:latin typeface="Pretendard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65836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C6A64"/>
                </a:solidFill>
                <a:latin typeface="Pretendard"/>
              </a:rPr>
              <a:t>실제 작동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18872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3200" b="0">
                <a:solidFill>
                  <a:srgbClr val="141413"/>
                </a:solidFill>
                <a:latin typeface="함초롬바탕"/>
              </a:rPr>
              <a:t>"FLIP 1기" 폴더에서 추출된 항목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" y="2194560"/>
            <a:ext cx="10671048" cy="3291840"/>
          </a:xfrm>
          <a:prstGeom prst="roundRect">
            <a:avLst>
              <a:gd name="adj" fmla="val 4000"/>
            </a:avLst>
          </a:prstGeom>
          <a:solidFill>
            <a:srgbClr val="FAF9F5"/>
          </a:solidFill>
          <a:ln w="6350">
            <a:solidFill>
              <a:srgbClr val="E6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317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6C6A64"/>
                </a:solidFill>
                <a:latin typeface="Pretendard"/>
              </a:rPr>
              <a:t>Atom Digest · 마감 5 · 요구사항 7 · 결정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834640"/>
            <a:ext cx="3291840" cy="2377440"/>
          </a:xfrm>
          <a:prstGeom prst="roundRect">
            <a:avLst>
              <a:gd name="adj" fmla="val 7000"/>
            </a:avLst>
          </a:prstGeom>
          <a:solidFill>
            <a:srgbClr val="F5F0E8"/>
          </a:solidFill>
          <a:ln w="6350">
            <a:solidFill>
              <a:srgbClr val="E6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97180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8E8B82"/>
                </a:solidFill>
                <a:latin typeface="Pretendard"/>
              </a:rPr>
              <a:t>마감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337560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41413"/>
                </a:solidFill>
                <a:latin typeface="Pretendard"/>
              </a:rPr>
              <a:t>3주차 사용성 테스트 결과 정리 완료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70916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8E8B82"/>
                </a:solidFill>
                <a:latin typeface="Consolas"/>
              </a:rPr>
              <a:t>3팀_2주차보고서.pdf · 2026-03-29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834640"/>
            <a:ext cx="3291840" cy="2377440"/>
          </a:xfrm>
          <a:prstGeom prst="roundRect">
            <a:avLst>
              <a:gd name="adj" fmla="val 7000"/>
            </a:avLst>
          </a:prstGeom>
          <a:solidFill>
            <a:srgbClr val="F5F0E8"/>
          </a:solidFill>
          <a:ln w="6350">
            <a:solidFill>
              <a:srgbClr val="E6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97180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8E8B82"/>
                </a:solidFill>
                <a:latin typeface="Pretendard"/>
              </a:rPr>
              <a:t>요구사항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337560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41413"/>
                </a:solidFill>
                <a:latin typeface="Pretendard"/>
              </a:rPr>
              <a:t>60대 사용자 사용성 테스트 8건 진행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470916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8E8B82"/>
                </a:solidFill>
                <a:latin typeface="Consolas"/>
              </a:rPr>
              <a:t>3팀_2주차보고서.pdf · section 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834640"/>
            <a:ext cx="3291840" cy="2377440"/>
          </a:xfrm>
          <a:prstGeom prst="roundRect">
            <a:avLst>
              <a:gd name="adj" fmla="val 7000"/>
            </a:avLst>
          </a:prstGeom>
          <a:solidFill>
            <a:srgbClr val="F5F0E8"/>
          </a:solidFill>
          <a:ln w="6350">
            <a:solidFill>
              <a:srgbClr val="E6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97180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8E8B82"/>
                </a:solidFill>
                <a:latin typeface="Pretendard"/>
              </a:rPr>
              <a:t>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337560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41413"/>
                </a:solidFill>
                <a:latin typeface="Pretendard"/>
              </a:rPr>
              <a:t>LINC 중간평가 자료는 NRF 표준양식,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141413"/>
                </a:solidFill>
                <a:latin typeface="Pretendard"/>
              </a:rPr>
              <a:t>PDF 10페이지 이내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70916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8E8B82"/>
                </a:solidFill>
                <a:latin typeface="Consolas"/>
              </a:rPr>
              <a:t>3팀_2주차보고서.pdf · section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5852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3D3D3A"/>
                </a:solidFill>
                <a:latin typeface="Pretendard"/>
              </a:rPr>
              <a:t>매니저가 챗봇에게 "다가오는 마감 알려줘" 라고 묻습니다. 답이 출처 파일과 함께 즉시 나옵니다.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1000" b="0">
                <a:solidFill>
                  <a:srgbClr val="8E8B82"/>
                </a:solidFill>
                <a:latin typeface="Pretendard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65836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C6A64"/>
                </a:solidFill>
                <a:latin typeface="Pretendard"/>
              </a:rPr>
              <a:t>다른 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1887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0">
                <a:solidFill>
                  <a:srgbClr val="141413"/>
                </a:solidFill>
                <a:latin typeface="함초롬바탕"/>
              </a:rPr>
              <a:t>학생에게 새 작업을 0건 추가합니다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28803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6C6A64"/>
                </a:solidFill>
                <a:latin typeface="Pretendard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39312" y="2880360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6C6A64"/>
                </a:solidFill>
                <a:latin typeface="Pretendard"/>
              </a:rPr>
              <a:t>Notion / Sheets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71231" y="2880360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6C6A64"/>
                </a:solidFill>
                <a:latin typeface="Pretendard"/>
              </a:rPr>
              <a:t>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675887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141413"/>
                </a:solidFill>
                <a:latin typeface="Pretendard"/>
              </a:rPr>
              <a:t>누가 입력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9312" y="3675887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141413"/>
                </a:solidFill>
                <a:latin typeface="Pretendard"/>
              </a:rPr>
              <a:t>학생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34071" y="3520439"/>
            <a:ext cx="3840480" cy="594360"/>
          </a:xfrm>
          <a:prstGeom prst="roundRect">
            <a:avLst>
              <a:gd name="adj" fmla="val 20000"/>
            </a:avLst>
          </a:pr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16951" y="3675887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FAF9F5"/>
                </a:solidFill>
                <a:latin typeface="Pretendard"/>
              </a:rPr>
              <a:t>매니저만, 자동 추출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" y="3474720"/>
            <a:ext cx="10671048" cy="6350"/>
          </a:xfrm>
          <a:prstGeom prst="rect">
            <a:avLst/>
          </a:prstGeom>
          <a:solidFill>
            <a:srgbClr val="E6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407407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141413"/>
                </a:solidFill>
                <a:latin typeface="Pretendard"/>
              </a:rPr>
              <a:t>형식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4407407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141413"/>
                </a:solidFill>
                <a:latin typeface="Pretendard"/>
              </a:rPr>
              <a:t>형식 강제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34071" y="4251959"/>
            <a:ext cx="3840480" cy="594360"/>
          </a:xfrm>
          <a:prstGeom prst="roundRect">
            <a:avLst>
              <a:gd name="adj" fmla="val 20000"/>
            </a:avLst>
          </a:pr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16951" y="4407407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FAF9F5"/>
                </a:solidFill>
                <a:latin typeface="Pretendard"/>
              </a:rPr>
              <a:t>자유 형식 그대로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" y="4206240"/>
            <a:ext cx="10671048" cy="6350"/>
          </a:xfrm>
          <a:prstGeom prst="rect">
            <a:avLst/>
          </a:prstGeom>
          <a:solidFill>
            <a:srgbClr val="E6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13892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141413"/>
                </a:solidFill>
                <a:latin typeface="Pretendard"/>
              </a:rPr>
              <a:t>활동 증빙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9312" y="5138928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141413"/>
                </a:solidFill>
                <a:latin typeface="Pretendard"/>
              </a:rPr>
              <a:t>매뉴얼 정리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34071" y="4983480"/>
            <a:ext cx="3840480" cy="594360"/>
          </a:xfrm>
          <a:prstGeom prst="roundRect">
            <a:avLst>
              <a:gd name="adj" fmla="val 20000"/>
            </a:avLst>
          </a:pr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16951" y="5138928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FAF9F5"/>
                </a:solidFill>
                <a:latin typeface="Pretendard"/>
              </a:rPr>
              <a:t>원본 출처 자동 인용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" y="4937760"/>
            <a:ext cx="10671048" cy="6350"/>
          </a:xfrm>
          <a:prstGeom prst="rect">
            <a:avLst/>
          </a:prstGeom>
          <a:solidFill>
            <a:srgbClr val="E6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1000" b="0">
                <a:solidFill>
                  <a:srgbClr val="8E8B82"/>
                </a:solidFill>
                <a:latin typeface="Pretendard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65836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C6A64"/>
                </a:solidFill>
                <a:latin typeface="Pretendard"/>
              </a:rPr>
              <a:t>트랙션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1887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0">
                <a:solidFill>
                  <a:srgbClr val="141413"/>
                </a:solidFill>
                <a:latin typeface="함초롬바탕"/>
              </a:rPr>
              <a:t>지금까지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3657600"/>
            <a:ext cx="3657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0">
                <a:solidFill>
                  <a:srgbClr val="141413"/>
                </a:solidFill>
                <a:latin typeface="함초롬바탕"/>
              </a:rPr>
              <a:t>8팀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5120640"/>
            <a:ext cx="3657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C6A64"/>
                </a:solidFill>
                <a:latin typeface="Pretendard"/>
              </a:rPr>
              <a:t>FLIP 1기 운영 중 (데모데이 6/26)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07992" y="3657600"/>
            <a:ext cx="3657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0">
                <a:solidFill>
                  <a:srgbClr val="141413"/>
                </a:solidFill>
                <a:latin typeface="함초롬바탕"/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7992" y="5120640"/>
            <a:ext cx="3657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C6A64"/>
                </a:solidFill>
                <a:latin typeface="Pretendard"/>
              </a:rPr>
              <a:t>사내 검증 24개 항목 정확도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7031" y="3657600"/>
            <a:ext cx="3657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0">
                <a:solidFill>
                  <a:srgbClr val="141413"/>
                </a:solidFill>
                <a:latin typeface="함초롬바탕"/>
              </a:rPr>
              <a:t>5h → 30분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7031" y="5120640"/>
            <a:ext cx="3657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C6A64"/>
                </a:solidFill>
                <a:latin typeface="Pretendard"/>
              </a:rPr>
              <a:t>주당 운영 시간 단축 (예측)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1000" b="0">
                <a:solidFill>
                  <a:srgbClr val="8E8B82"/>
                </a:solidFill>
                <a:latin typeface="Pretendard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65836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C6A64"/>
                </a:solidFill>
                <a:latin typeface="Pretendard"/>
              </a:rPr>
              <a:t>누가 돈을 내는가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1887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0">
                <a:solidFill>
                  <a:srgbClr val="141413"/>
                </a:solidFill>
                <a:latin typeface="함초롬바탕"/>
              </a:rPr>
              <a:t>대학 창업지원단 직계약, 사업단 단위 SaaS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" y="2743200"/>
            <a:ext cx="5212080" cy="3200400"/>
          </a:xfrm>
          <a:prstGeom prst="roundRect">
            <a:avLst>
              <a:gd name="adj" fmla="val 4000"/>
            </a:avLst>
          </a:prstGeom>
          <a:solidFill>
            <a:srgbClr val="FAF9F5"/>
          </a:solidFill>
          <a:ln w="6350">
            <a:solidFill>
              <a:srgbClr val="E6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1" y="301752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6C6A64"/>
                </a:solidFill>
                <a:latin typeface="Pretendard"/>
              </a:rPr>
              <a:t>Phase 1 — 2026 하반기 ~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1" y="3429000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141413"/>
                </a:solidFill>
                <a:latin typeface="함초롬바탕"/>
              </a:rPr>
              <a:t>대학당 연 600만 ~ 1,200만 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443484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3D3D3A"/>
                </a:solidFill>
                <a:latin typeface="Pretendard"/>
              </a:rPr>
              <a:t>RISE·캠퍼스타운 콘텐츠·디지털 항목으로 합법적 집행. 의사결정자 = 창업지원단장 (부총장급 재량).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2743200"/>
            <a:ext cx="5212080" cy="3200400"/>
          </a:xfrm>
          <a:prstGeom prst="roundRect">
            <a:avLst>
              <a:gd name="adj" fmla="val 4000"/>
            </a:avLst>
          </a:prstGeom>
          <a:solidFill>
            <a:srgbClr val="FAF9F5"/>
          </a:solidFill>
          <a:ln w="6350">
            <a:solidFill>
              <a:srgbClr val="E6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301752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6C6A64"/>
                </a:solidFill>
                <a:latin typeface="Pretendard"/>
              </a:rPr>
              <a:t>Phase 2 — 2027 이후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3429000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141413"/>
                </a:solidFill>
                <a:latin typeface="함초롬바탕"/>
              </a:rPr>
              <a:t>학교 안 확산 + 입주 공간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443484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3D3D3A"/>
                </a:solidFill>
                <a:latin typeface="Pretendard"/>
              </a:rPr>
              <a:t>같은 학교 안 학과·연구실 + 입주 기업 (TIPS, AC). 해외 진출은 QANDA 경로 — 학생 B2C 도구 이식.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1000" b="0">
                <a:solidFill>
                  <a:srgbClr val="8E8B82"/>
                </a:solidFill>
                <a:latin typeface="Pretendard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65836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C6A64"/>
                </a:solidFill>
                <a:latin typeface="Pretendard"/>
              </a:rPr>
              <a:t>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1887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0">
                <a:solidFill>
                  <a:srgbClr val="141413"/>
                </a:solidFill>
                <a:latin typeface="함초롬바탕"/>
              </a:rPr>
              <a:t>본인이 매주 일요일에 시트를 베끼던 사람입니다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2743200"/>
            <a:ext cx="105156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800" b="0">
                <a:solidFill>
                  <a:srgbClr val="141413"/>
                </a:solidFill>
                <a:latin typeface="Pretendard"/>
              </a:rPr>
              <a:t>Founder · CEO  ○○○</a:t>
            </a:r>
          </a:p>
          <a:p>
            <a:pPr algn="l">
              <a:lnSpc>
                <a:spcPct val="170000"/>
              </a:lnSpc>
            </a:pPr>
            <a:r>
              <a:rPr sz="1800" b="0">
                <a:solidFill>
                  <a:srgbClr val="141413"/>
                </a:solidFill>
                <a:latin typeface="Pretendard"/>
              </a:rPr>
              <a:t>FLIP 1기 운영. 매니저로서 본인의 페인을 본인이 풀고 있습니다.</a:t>
            </a:r>
          </a:p>
          <a:p>
            <a:pPr algn="l">
              <a:lnSpc>
                <a:spcPct val="170000"/>
              </a:lnSpc>
            </a:pPr>
            <a:r>
              <a:rPr sz="1800" b="0">
                <a:solidFill>
                  <a:srgbClr val="141413"/>
                </a:solidFill>
                <a:latin typeface="Pretendard"/>
              </a:rPr>
              <a:t>첫 고객 8팀이 지금 저희 제품 안에서 운영되고 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50292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>
                <a:solidFill>
                  <a:srgbClr val="6C6A64"/>
                </a:solidFill>
                <a:latin typeface="Pretendard"/>
              </a:rPr>
              <a:t>제품 엔지니어링 (Claude Code 협업) — Next.js 15 + Supabase + 멀티 LLM (Claude · Gemini fallback).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1000" b="0">
                <a:solidFill>
                  <a:srgbClr val="8E8B82"/>
                </a:solidFill>
                <a:latin typeface="Pretendard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65836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C6A64"/>
                </a:solidFill>
                <a:latin typeface="Pretendard"/>
              </a:rPr>
              <a:t>다음 12개월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1887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0">
                <a:solidFill>
                  <a:srgbClr val="141413"/>
                </a:solidFill>
                <a:latin typeface="함초롬바탕"/>
              </a:rPr>
              <a:t>Pre-seed 3 ~ 5 억 모집 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29260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2200" b="0">
                <a:solidFill>
                  <a:srgbClr val="141413"/>
                </a:solidFill>
                <a:latin typeface="Pretendard"/>
              </a:rPr>
              <a:t>·  정규직 엔지니어 1인 + 영업 1인 채용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35661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2200" b="0">
                <a:solidFill>
                  <a:srgbClr val="141413"/>
                </a:solidFill>
                <a:latin typeface="Pretendard"/>
              </a:rPr>
              <a:t>·  대학 5개 학교로 PoC 확장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42062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2200" b="0">
                <a:solidFill>
                  <a:srgbClr val="141413"/>
                </a:solidFill>
                <a:latin typeface="Pretendard"/>
              </a:rPr>
              <a:t>·  KPI: 유료 3교 계약 · MAU 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53035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800" b="0">
                <a:solidFill>
                  <a:srgbClr val="3D3D3A"/>
                </a:solidFill>
                <a:latin typeface="Pretendard"/>
              </a:rPr>
              <a:t>오늘 자리에서 한 분이라도 follow-up 미팅 가능하시면, 끝나고 명함 부탁드립니다.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63093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8E8B82"/>
                </a:solidFill>
                <a:latin typeface="Pretendard"/>
              </a:rPr>
              <a:t>○○○ · email@draft.kr · 010-XXXX-XXXX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1000" b="0">
                <a:solidFill>
                  <a:srgbClr val="8E8B82"/>
                </a:solidFill>
                <a:latin typeface="Pretendard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